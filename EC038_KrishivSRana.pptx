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5" r:id="rId10"/>
    <p:sldId id="264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D55C1-82D8-4EA4-90AC-9C9431C7525F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E834D-E4FB-41E9-AFD1-126B7312A97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E834D-E4FB-41E9-AFD1-126B7312A973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D246-92E2-4483-868E-79F1D604009C}" type="datetime1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02025-B93C-428E-8EB5-64D8AF7AA2DC}" type="datetime1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98D60-427B-419B-8161-A3852D5A07AF}" type="datetime1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0444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91AC4-2022-484C-B183-013029791FB2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en/resources/app-notes/an-2033.html" TargetMode="External"/><Relationship Id="rId2" Type="http://schemas.openxmlformats.org/officeDocument/2006/relationships/hyperlink" Target="https://www.ti.com/lit/pdf/SLAU36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xp.com/docs/en/user-guide/UM10204.pdf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78152" y="2365310"/>
            <a:ext cx="10219362" cy="2127380"/>
          </a:xfrm>
        </p:spPr>
        <p:txBody>
          <a:bodyPr>
            <a:normAutofit fontScale="90000"/>
          </a:bodyPr>
          <a:lstStyle/>
          <a:p>
            <a:pPr marL="0" indent="0"/>
            <a:b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</a:br>
            <a:b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</a:br>
            <a:b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</a:br>
            <a:b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</a:br>
            <a:b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</a:br>
            <a: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Implementation of Smoke Detection</a:t>
            </a:r>
            <a:br>
              <a:rPr lang="en-US" sz="4800" dirty="0">
                <a:latin typeface="Garamond" panose="02020404030301010803" pitchFamily="18" charset="0"/>
              </a:rPr>
            </a:br>
            <a: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System Using Optical Smoke Sensor</a:t>
            </a:r>
            <a:br>
              <a:rPr lang="en-US" sz="4800" dirty="0">
                <a:latin typeface="Garamond" panose="02020404030301010803" pitchFamily="18" charset="0"/>
              </a:rPr>
            </a:br>
            <a:r>
              <a:rPr lang="en-US" sz="4800" b="1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and MSP430FRxxxx</a:t>
            </a:r>
            <a:br>
              <a:rPr lang="en-US" sz="4800" dirty="0">
                <a:latin typeface="Garamond" panose="02020404030301010803" pitchFamily="18" charset="0"/>
              </a:rPr>
            </a:br>
            <a:endParaRPr lang="en-IN" sz="4800" dirty="0">
              <a:latin typeface="Garamond" panose="02020404030301010803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859281" y="5890849"/>
            <a:ext cx="10812543" cy="967151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Garamond" panose="02020404030301010803" pitchFamily="18" charset="0"/>
              </a:rPr>
              <a:t>Krishiv .S. Rana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Table of Content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48"/>
          </a:xfrm>
        </p:spPr>
        <p:txBody>
          <a:bodyPr>
            <a:normAutofit fontScale="85000" lnSpcReduction="20000"/>
          </a:bodyPr>
          <a:lstStyle/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Motivation &amp; Problem Definition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Project Introduction </a:t>
            </a: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 &amp; Block Diagram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Optical Smoke Sensor – Features &amp; Architecture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MSP430FRxxxx Microcontroller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I²C Protocol &amp; Sensor Interfacing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UART, RS485 &amp; Frame Layer Protocol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Algorithms Applied 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Firmware &amp; Software Design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Results</a:t>
            </a:r>
            <a:endParaRPr lang="en-US" sz="3300" dirty="0">
              <a:latin typeface="Garamond" panose="02020404030301010803" pitchFamily="18" charset="0"/>
            </a:endParaRPr>
          </a:p>
          <a:p>
            <a:r>
              <a:rPr lang="en-US" sz="33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300" dirty="0">
              <a:latin typeface="Garamond" panose="02020404030301010803" pitchFamily="18" charset="0"/>
            </a:endParaRPr>
          </a:p>
          <a:p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80444" y="6356352"/>
            <a:ext cx="2743200" cy="365125"/>
          </a:xfrm>
        </p:spPr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24118"/>
            <a:ext cx="10515600" cy="1325563"/>
          </a:xfrm>
        </p:spPr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Motivation &amp; Problem Definition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75698" y="1449681"/>
            <a:ext cx="10853057" cy="5271796"/>
          </a:xfrm>
        </p:spPr>
        <p:txBody>
          <a:bodyPr>
            <a:no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Smoke Detection Importance &amp; Solution</a:t>
            </a:r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Smoke is the earliest sign of fire → enables early warning, saving lives and property </a:t>
            </a:r>
          </a:p>
          <a:p>
            <a:r>
              <a:rPr lang="en-US" dirty="0">
                <a:latin typeface="Garamond" panose="02020404030301010803" pitchFamily="18" charset="0"/>
              </a:rPr>
              <a:t>Industrial challenge: detect fine particles while avoiding false alarms (dust, steam)</a:t>
            </a:r>
          </a:p>
          <a:p>
            <a:r>
              <a:rPr lang="en-US" dirty="0">
                <a:latin typeface="Garamond" panose="02020404030301010803" pitchFamily="18" charset="0"/>
              </a:rPr>
              <a:t>Limitation: single-wavelength detectors cannot differentiate real smoke from noise </a:t>
            </a:r>
          </a:p>
          <a:p>
            <a:r>
              <a:rPr lang="en-US" dirty="0">
                <a:latin typeface="Garamond" panose="02020404030301010803" pitchFamily="18" charset="0"/>
              </a:rPr>
              <a:t>Solution: dual-wavelength optical method improves accuracy and reliability</a:t>
            </a:r>
          </a:p>
          <a:p>
            <a:r>
              <a:rPr lang="en-US" dirty="0">
                <a:latin typeface="Garamond" panose="02020404030301010803" pitchFamily="18" charset="0"/>
              </a:rPr>
              <a:t>Ensures faster response time and enhances overall fire safety systems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74041"/>
            <a:ext cx="10515600" cy="1325563"/>
          </a:xfrm>
        </p:spPr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Project 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75970" y="1499579"/>
            <a:ext cx="10515600" cy="4351338"/>
          </a:xfrm>
        </p:spPr>
        <p:txBody>
          <a:bodyPr>
            <a:noAutofit/>
          </a:bodyPr>
          <a:lstStyle/>
          <a:p>
            <a:r>
              <a:rPr lang="en-IN" b="1" dirty="0">
                <a:latin typeface="Garamond" panose="02020404030301010803" pitchFamily="18" charset="0"/>
              </a:rPr>
              <a:t>System Architecture &amp; Communication</a:t>
            </a:r>
            <a:endParaRPr lang="en-IN" dirty="0">
              <a:latin typeface="Garamond" panose="02020404030301010803" pitchFamily="18" charset="0"/>
            </a:endParaRPr>
          </a:p>
          <a:p>
            <a:r>
              <a:rPr lang="en-IN" b="1" dirty="0">
                <a:latin typeface="Garamond" panose="02020404030301010803" pitchFamily="18" charset="0"/>
              </a:rPr>
              <a:t>3-Layer Architecture:</a:t>
            </a:r>
            <a:br>
              <a:rPr lang="en-IN" dirty="0">
                <a:latin typeface="Garamond" panose="02020404030301010803" pitchFamily="18" charset="0"/>
              </a:rPr>
            </a:br>
            <a:r>
              <a:rPr lang="en-IN" dirty="0">
                <a:latin typeface="Garamond" panose="02020404030301010803" pitchFamily="18" charset="0"/>
              </a:rPr>
              <a:t>Sensor (optical dual-LED + ADC) → MSP430 MCU → Python host (live PTR graph) </a:t>
            </a:r>
          </a:p>
          <a:p>
            <a:r>
              <a:rPr lang="en-IN" b="1" dirty="0">
                <a:latin typeface="Garamond" panose="02020404030301010803" pitchFamily="18" charset="0"/>
              </a:rPr>
              <a:t>Signal Flow:</a:t>
            </a:r>
            <a:br>
              <a:rPr lang="en-IN" dirty="0">
                <a:latin typeface="Garamond" panose="02020404030301010803" pitchFamily="18" charset="0"/>
              </a:rPr>
            </a:br>
            <a:r>
              <a:rPr lang="en-IN" dirty="0">
                <a:latin typeface="Garamond" panose="02020404030301010803" pitchFamily="18" charset="0"/>
              </a:rPr>
              <a:t>Smoke → Sensor → (I2C @100kHz) → MCU →(UART / RS485 @9600) → Python → Graph </a:t>
            </a:r>
          </a:p>
          <a:p>
            <a:r>
              <a:rPr lang="en-IN" b="1" dirty="0">
                <a:latin typeface="Garamond" panose="02020404030301010803" pitchFamily="18" charset="0"/>
              </a:rPr>
              <a:t>Key Interfaces:</a:t>
            </a:r>
            <a:br>
              <a:rPr lang="en-IN" dirty="0">
                <a:latin typeface="Garamond" panose="02020404030301010803" pitchFamily="18" charset="0"/>
              </a:rPr>
            </a:br>
            <a:r>
              <a:rPr lang="en-IN" dirty="0">
                <a:latin typeface="Garamond" panose="02020404030301010803" pitchFamily="18" charset="0"/>
              </a:rPr>
              <a:t>I²C (</a:t>
            </a:r>
            <a:r>
              <a:rPr lang="en-IN" dirty="0" err="1">
                <a:latin typeface="Garamond" panose="02020404030301010803" pitchFamily="18" charset="0"/>
              </a:rPr>
              <a:t>addr</a:t>
            </a:r>
            <a:r>
              <a:rPr lang="en-IN" dirty="0">
                <a:latin typeface="Garamond" panose="02020404030301010803" pitchFamily="18" charset="0"/>
              </a:rPr>
              <a:t> 0x64), UART 9600 baud (8N1), RS485 half-duplex </a:t>
            </a:r>
          </a:p>
          <a:p>
            <a:r>
              <a:rPr lang="en-IN" b="1" dirty="0">
                <a:latin typeface="Garamond" panose="02020404030301010803" pitchFamily="18" charset="0"/>
              </a:rPr>
              <a:t>Data Handling:</a:t>
            </a:r>
            <a:br>
              <a:rPr lang="en-IN" dirty="0">
                <a:latin typeface="Garamond" panose="02020404030301010803" pitchFamily="18" charset="0"/>
              </a:rPr>
            </a:br>
            <a:r>
              <a:rPr lang="en-IN" dirty="0">
                <a:latin typeface="Garamond" panose="02020404030301010803" pitchFamily="18" charset="0"/>
              </a:rPr>
              <a:t>4-byte request, 21-byte response with CRC16 validation</a:t>
            </a:r>
          </a:p>
          <a:p>
            <a:endParaRPr lang="en-IN" sz="2400" dirty="0"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0764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System Overview</a:t>
            </a:r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5</a:t>
            </a:fld>
            <a:endParaRPr lang="en-IN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43847"/>
            <a:ext cx="1013014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Objective: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Early and accurate smoke detection with low false alarms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Concept: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Dual-wavelength optical sensing (Blue + IR) for particle discrimination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System Layers: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Sensing: Optical Smoke Sensor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Processing: MSP430FRxxxx MCU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Monitoring: Python-based host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Key Functions: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Detection → Signal Processing → Data Transmission → Visualization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42572"/>
            <a:ext cx="10515600" cy="1325563"/>
          </a:xfrm>
        </p:spPr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Block Diagram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6</a:t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113280"/>
            <a:ext cx="10200640" cy="3332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Optical Smoke Sensor – Features &amp; Architecture</a:t>
            </a: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455" y="1807845"/>
            <a:ext cx="10010140" cy="44323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8</a:t>
            </a:fld>
            <a:endParaRPr lang="en-IN"/>
          </a:p>
        </p:txBody>
      </p:sp>
      <p:pic>
        <p:nvPicPr>
          <p:cNvPr id="3" name="Content Placeholder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65" y="1011786"/>
            <a:ext cx="10025380" cy="5178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7813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MSP430FRxxxx Microcontroller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70" y="1343660"/>
            <a:ext cx="10150475" cy="5377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16000" y="619180"/>
            <a:ext cx="894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I²C Protocol &amp; Sensor Interfacing</a:t>
            </a:r>
            <a:endParaRPr lang="en-US" sz="4400" dirty="0">
              <a:latin typeface="Garamond" panose="02020404030301010803" pitchFamily="18" charset="0"/>
            </a:endParaRPr>
          </a:p>
          <a:p>
            <a:endParaRPr lang="en-IN" sz="4400" dirty="0"/>
          </a:p>
        </p:txBody>
      </p:sp>
      <p:sp>
        <p:nvSpPr>
          <p:cNvPr id="10" name="TextBox 9"/>
          <p:cNvSpPr txBox="1"/>
          <p:nvPr/>
        </p:nvSpPr>
        <p:spPr>
          <a:xfrm>
            <a:off x="1016000" y="1720840"/>
            <a:ext cx="104038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2800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I²C Bus Configuration</a:t>
            </a:r>
          </a:p>
          <a:p>
            <a:pPr>
              <a:spcAft>
                <a:spcPts val="400"/>
              </a:spcAft>
            </a:pPr>
            <a:endParaRPr lang="en-US" sz="2800" dirty="0">
              <a:solidFill>
                <a:srgbClr val="1A1A2E"/>
              </a:solidFill>
              <a:latin typeface="Garamond" panose="02020404030301010803" pitchFamily="18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endParaRPr lang="en-US" sz="2800" b="1" dirty="0">
              <a:solidFill>
                <a:srgbClr val="1A1A2E"/>
              </a:solidFill>
              <a:latin typeface="Garamond" panose="02020404030301010803" pitchFamily="18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endParaRPr lang="en-US" sz="2800" b="1" dirty="0">
              <a:solidFill>
                <a:srgbClr val="1A1A2E"/>
              </a:solidFill>
              <a:latin typeface="Garamond" panose="02020404030301010803" pitchFamily="18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endParaRPr lang="en-US" sz="2800" b="1" dirty="0">
              <a:solidFill>
                <a:srgbClr val="1A1A2E"/>
              </a:solidFill>
              <a:latin typeface="Garamond" panose="02020404030301010803" pitchFamily="18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>
              <a:spcAft>
                <a:spcPts val="400"/>
              </a:spcAft>
            </a:pPr>
            <a:endParaRPr lang="en-US" sz="2800" dirty="0">
              <a:latin typeface="Garamond" panose="02020404030301010803" pitchFamily="18" charset="0"/>
            </a:endParaRPr>
          </a:p>
          <a:p>
            <a:endParaRPr lang="en-IN" sz="2800" dirty="0">
              <a:latin typeface="Garamond" panose="02020404030301010803" pitchFamily="18" charset="0"/>
            </a:endParaRPr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1097280" y="2696777"/>
            <a:ext cx="1002678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Two-wire communication: SDA (data) and SCL (clock)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Master (MCU) controls communication; sensor acts as slave (0x64)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Operates at 100 kHz (Standard Mode)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Uses START, STOP, and ACK signals for data transfer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Supports both read and write operations using register addressing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30" y="897890"/>
            <a:ext cx="9526905" cy="5172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UART &amp; RS485</a:t>
            </a:r>
            <a:br>
              <a:rPr lang="en-US" dirty="0">
                <a:latin typeface="Garamond" panose="02020404030301010803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7785"/>
            <a:ext cx="10515600" cy="4351338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UART Configuration (8N1)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9600 baud, 8 data bits, no parity, 1 stop bit — eUSCI_A0 on MSP430FRxxxx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16× oversampling for accurate bit sampling and noise immunity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Interrupt-driven RX (UART ISR) + polling-based TX via DE/RE GPIO control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RS485 Physical Layer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Differential signaling — immune to common-mode noise in industrial environments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Half-duplex: MCU switches between TX and RX mode using DE and RE GPIO pins</a:t>
            </a:r>
            <a:endParaRPr lang="en-US" dirty="0">
              <a:latin typeface="Garamond" panose="02020404030301010803" pitchFamily="18" charset="0"/>
            </a:endParaRPr>
          </a:p>
          <a:p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Algorithms Applied </a:t>
            </a:r>
            <a:br>
              <a:rPr lang="en-US" dirty="0">
                <a:latin typeface="Garamond" panose="02020404030301010803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Moving Average Filter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8-sample circular buffer in FRAM for both Blue and IR channels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Running sum updated each sample — avoids full re-computation each cycle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Reduces high-frequency noise without introducing significant lag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Baseline Calibration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On startup: 8 samples averaged to establish clean-air baseline PTR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+1 guard added to baseline prevents negative obscuration in clean air</a:t>
            </a:r>
            <a:endParaRPr lang="en-US" dirty="0">
              <a:latin typeface="Garamond" panose="02020404030301010803" pitchFamily="18" charset="0"/>
            </a:endParaRPr>
          </a:p>
          <a:p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3772"/>
            <a:ext cx="10515600" cy="4910455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Adaptive Baseline Tracking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Exponential Moving Average (EMA) tracker updates baseline slowly over time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Prevents smoke events from corrupting the baseline reference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Obscuration Calculation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β = PTR / γ    (γ = 0.64 for Blue 470 nm  |  γ = 0.24 for IR 850 nm)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Scaled ×100 and stored as 16-bit unsigned integer in frame — resolution of 0.01 %/ft</a:t>
            </a:r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440" y="40669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Firmware &amp; Software Design</a:t>
            </a:r>
            <a:br>
              <a:rPr lang="en-US" dirty="0">
                <a:latin typeface="Garamond" panose="02020404030301010803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40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Firmware Architecture – Foreground/Background Model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Foreground (ISR): UART RX interrupt receives 4-byte request frame, sets processing flag</a:t>
            </a:r>
            <a:endParaRPr lang="en-US" dirty="0">
              <a:latin typeface="Garamond" panose="02020404030301010803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</a:pPr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Background (Main Loop): I²C sensor poll → signal processing → frame build → RS485 TX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A1A2E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Main Program Flow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dirty="0">
              <a:latin typeface="Garamond" panose="02020404030301010803" pitchFamily="18" charset="0"/>
            </a:endParaRPr>
          </a:p>
          <a:p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4175760"/>
            <a:ext cx="9911080" cy="21805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Testing &amp; Results</a:t>
            </a:r>
            <a:br>
              <a:rPr lang="en-US" dirty="0">
                <a:latin typeface="Garamond" panose="02020404030301010803" pitchFamily="18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16</a:t>
            </a:fld>
            <a:endParaRPr lang="en-IN"/>
          </a:p>
        </p:txBody>
      </p:sp>
      <p:grpSp>
        <p:nvGrpSpPr>
          <p:cNvPr id="5" name="Group 4"/>
          <p:cNvGrpSpPr/>
          <p:nvPr/>
        </p:nvGrpSpPr>
        <p:grpSpPr>
          <a:xfrm>
            <a:off x="451958" y="1421743"/>
            <a:ext cx="6079706" cy="5523254"/>
            <a:chOff x="-301177" y="-1354379"/>
            <a:chExt cx="5993316" cy="3839133"/>
          </a:xfrm>
        </p:grpSpPr>
        <p:pic>
          <p:nvPicPr>
            <p:cNvPr id="6" name="Image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01177" y="-1354379"/>
              <a:ext cx="5714237" cy="2505710"/>
            </a:xfrm>
            <a:prstGeom prst="rect">
              <a:avLst/>
            </a:prstGeom>
          </p:spPr>
        </p:pic>
        <p:sp>
          <p:nvSpPr>
            <p:cNvPr id="7" name="Graphic 74"/>
            <p:cNvSpPr/>
            <p:nvPr/>
          </p:nvSpPr>
          <p:spPr>
            <a:xfrm>
              <a:off x="4594859" y="1707514"/>
              <a:ext cx="1097280" cy="777240"/>
            </a:xfrm>
            <a:custGeom>
              <a:avLst/>
              <a:gdLst/>
              <a:ahLst/>
              <a:cxnLst/>
              <a:rect l="l" t="t" r="r" b="b"/>
              <a:pathLst>
                <a:path w="1097280" h="777240">
                  <a:moveTo>
                    <a:pt x="1097279" y="0"/>
                  </a:moveTo>
                  <a:lnTo>
                    <a:pt x="0" y="0"/>
                  </a:lnTo>
                  <a:lnTo>
                    <a:pt x="0" y="777240"/>
                  </a:lnTo>
                  <a:lnTo>
                    <a:pt x="1097279" y="777240"/>
                  </a:lnTo>
                  <a:lnTo>
                    <a:pt x="1097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lang="en-IN"/>
            </a:p>
          </p:txBody>
        </p:sp>
        <p:sp>
          <p:nvSpPr>
            <p:cNvPr id="8" name="Graphic 75"/>
            <p:cNvSpPr/>
            <p:nvPr/>
          </p:nvSpPr>
          <p:spPr>
            <a:xfrm>
              <a:off x="4594859" y="1707514"/>
              <a:ext cx="1097280" cy="777240"/>
            </a:xfrm>
            <a:custGeom>
              <a:avLst/>
              <a:gdLst/>
              <a:ahLst/>
              <a:cxnLst/>
              <a:rect l="l" t="t" r="r" b="b"/>
              <a:pathLst>
                <a:path w="1097280" h="777240">
                  <a:moveTo>
                    <a:pt x="0" y="777240"/>
                  </a:moveTo>
                  <a:lnTo>
                    <a:pt x="1097279" y="777240"/>
                  </a:lnTo>
                  <a:lnTo>
                    <a:pt x="1097279" y="0"/>
                  </a:lnTo>
                  <a:lnTo>
                    <a:pt x="0" y="0"/>
                  </a:lnTo>
                  <a:lnTo>
                    <a:pt x="0" y="77724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endParaRPr lang="en-IN"/>
            </a:p>
          </p:txBody>
        </p:sp>
      </p:grpSp>
      <p:pic>
        <p:nvPicPr>
          <p:cNvPr id="9" name="Image 8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9584" y="1288381"/>
            <a:ext cx="5524060" cy="36048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62966" y="3830320"/>
            <a:ext cx="1104153" cy="3962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38200" y="5293360"/>
            <a:ext cx="5024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Live PTR Graph During Smoke Detection Test</a:t>
            </a:r>
            <a:endParaRPr lang="en-IN" sz="2800" dirty="0">
              <a:latin typeface="Garamond" panose="020204040303010108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1664" y="5293359"/>
            <a:ext cx="4929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aramond" panose="02020404030301010803" pitchFamily="18" charset="0"/>
              </a:rPr>
              <a:t>Terminal Frame Output During Smoke Event</a:t>
            </a:r>
            <a:endParaRPr lang="en-IN" sz="28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D2D2D"/>
                </a:solidFill>
                <a:latin typeface="Garamond" panose="02020404030301010803" pitchFamily="18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br>
              <a:rPr lang="en-US" dirty="0">
                <a:latin typeface="Garamond" panose="02020404030301010803" pitchFamily="18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17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87E2D61-17BC-3974-42A4-34FB20AB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-4576271"/>
            <a:ext cx="10868890" cy="9633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abriola" panose="04040605051002020D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abriola" panose="04040605051002020D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abriola" panose="04040605051002020D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abriola" panose="04040605051002020D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Gabriola" panose="04040605051002020D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Low-power optical smoke detection using a dual-wavelength approach                                           for accurate early fire detection.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Zero false alarms, ensuring reliable and dependable operation.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Efficient I²C communication for stable sensor interfacing.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Real-time processing and data transmission handled by the MSP430 microcontroller.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Efficient data transmission to PC through UART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Suitable for industrial and safety-critical applications.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aramond" panose="02020404030301010803" pitchFamily="18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Garamond" panose="02020404030301010803" pitchFamily="18" charset="0"/>
              </a:rPr>
              <a:t>Texas Instruments, </a:t>
            </a:r>
            <a:r>
              <a:rPr lang="en-US" i="1" dirty="0">
                <a:latin typeface="Garamond" panose="02020404030301010803" pitchFamily="18" charset="0"/>
              </a:rPr>
              <a:t>MSP430FR58xx, MSP430FR59xx, and MSP430FR6xx Family User’s</a:t>
            </a:r>
            <a:endParaRPr lang="en-IN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  <a:hlinkClick r:id="rId2"/>
              </a:rPr>
              <a:t>https://www.ti.com/lit/pdf/SLAU367</a:t>
            </a:r>
            <a:endParaRPr lang="en-IN" dirty="0">
              <a:latin typeface="Garamond" panose="02020404030301010803" pitchFamily="18" charset="0"/>
            </a:endParaRPr>
          </a:p>
          <a:p>
            <a:pPr lvl="0"/>
            <a:r>
              <a:rPr lang="en-US" dirty="0">
                <a:latin typeface="Garamond" panose="02020404030301010803" pitchFamily="18" charset="0"/>
              </a:rPr>
              <a:t>Analog Devices, Inc., </a:t>
            </a:r>
            <a:r>
              <a:rPr lang="en-US" i="1" dirty="0">
                <a:latin typeface="Garamond" panose="02020404030301010803" pitchFamily="18" charset="0"/>
              </a:rPr>
              <a:t>AN-2033: Calibrating the Optical Smoke and Aerosol Detection Module</a:t>
            </a:r>
            <a:r>
              <a:rPr lang="en-US" dirty="0">
                <a:latin typeface="Garamond" panose="02020404030301010803" pitchFamily="18" charset="0"/>
              </a:rPr>
              <a:t>, June 2021.</a:t>
            </a:r>
            <a:endParaRPr lang="en-IN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  <a:hlinkClick r:id="rId3"/>
              </a:rPr>
              <a:t>https://www.analog.com/en/resources/app-notes/an-2033.html</a:t>
            </a:r>
            <a:endParaRPr lang="en-IN" dirty="0">
              <a:latin typeface="Garamond" panose="02020404030301010803" pitchFamily="18" charset="0"/>
            </a:endParaRPr>
          </a:p>
          <a:p>
            <a:pPr lvl="0"/>
            <a:r>
              <a:rPr lang="en-US" dirty="0">
                <a:latin typeface="Garamond" panose="02020404030301010803" pitchFamily="18" charset="0"/>
              </a:rPr>
              <a:t>NXP Semiconductors, </a:t>
            </a:r>
            <a:r>
              <a:rPr lang="en-US" i="1" dirty="0">
                <a:latin typeface="Garamond" panose="02020404030301010803" pitchFamily="18" charset="0"/>
              </a:rPr>
              <a:t>UM10204: I</a:t>
            </a:r>
            <a:r>
              <a:rPr lang="en-US" dirty="0">
                <a:latin typeface="Garamond" panose="02020404030301010803" pitchFamily="18" charset="0"/>
              </a:rPr>
              <a:t>2</a:t>
            </a:r>
            <a:r>
              <a:rPr lang="en-US" i="1" dirty="0">
                <a:latin typeface="Garamond" panose="02020404030301010803" pitchFamily="18" charset="0"/>
              </a:rPr>
              <a:t>C-Bus Specification and User Manual, Rev. 7.0</a:t>
            </a:r>
            <a:r>
              <a:rPr lang="en-US" dirty="0">
                <a:latin typeface="Garamond" panose="02020404030301010803" pitchFamily="18" charset="0"/>
              </a:rPr>
              <a:t>, 1 October 2021.</a:t>
            </a:r>
            <a:endParaRPr lang="en-IN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  <a:hlinkClick r:id="rId4"/>
              </a:rPr>
              <a:t>https://www.nxp.com/docs/en/user-guide/UM10204.pdf</a:t>
            </a:r>
            <a:endParaRPr lang="en-IN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dirty="0"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92D2A-040B-42C9-9E1D-3F5AF9625DEC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05243"/>
            <a:ext cx="9144000" cy="23876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Garamond" panose="02020404030301010803" pitchFamily="18" charset="0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799</Words>
  <Application>Microsoft Office PowerPoint</Application>
  <PresentationFormat>Widescreen</PresentationFormat>
  <Paragraphs>133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Gabriola</vt:lpstr>
      <vt:lpstr>Garamond</vt:lpstr>
      <vt:lpstr>Office Theme</vt:lpstr>
      <vt:lpstr>     Implementation of Smoke Detection System Using Optical Smoke Sensor and MSP430FRxxxx </vt:lpstr>
      <vt:lpstr>Table of Content</vt:lpstr>
      <vt:lpstr>Motivation &amp; Problem Definition</vt:lpstr>
      <vt:lpstr>Project Introduction</vt:lpstr>
      <vt:lpstr>System Overview</vt:lpstr>
      <vt:lpstr>Block Diagram </vt:lpstr>
      <vt:lpstr>Optical Smoke Sensor – Features &amp; Architecture</vt:lpstr>
      <vt:lpstr>PowerPoint Presentation</vt:lpstr>
      <vt:lpstr>MSP430FRxxxx Microcontroller</vt:lpstr>
      <vt:lpstr>PowerPoint Presentation</vt:lpstr>
      <vt:lpstr>PowerPoint Presentation</vt:lpstr>
      <vt:lpstr>UART &amp; RS485 </vt:lpstr>
      <vt:lpstr>Algorithms Applied  </vt:lpstr>
      <vt:lpstr>PowerPoint Presentation</vt:lpstr>
      <vt:lpstr>Firmware &amp; Software Design </vt:lpstr>
      <vt:lpstr>Testing &amp; Results </vt:lpstr>
      <vt:lpstr>Conclusion </vt:lpstr>
      <vt:lpstr>References 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Page</dc:title>
  <dc:creator>Hardik Patel</dc:creator>
  <cp:lastModifiedBy>Krishiv S Rana</cp:lastModifiedBy>
  <cp:revision>22</cp:revision>
  <dcterms:created xsi:type="dcterms:W3CDTF">2022-04-04T06:57:00Z</dcterms:created>
  <dcterms:modified xsi:type="dcterms:W3CDTF">2026-04-18T18:44:13Z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096E8B191BBA4EB2A5453D10CA3030CD_13</vt:lpwstr>
  </property>
  <property fmtid="{D5CDD505-2E9C-101B-9397-08002B2CF9AE}" pid="3" name="KSOProductBuildVer">
    <vt:lpwstr>1033-12.1.0.25242</vt:lpwstr>
  </property>
</Properties>
</file>